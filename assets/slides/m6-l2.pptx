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695" y="1828800"/>
            <a:ext cx="7315200" cy="7315200"/>
          </a:xfrm>
          <a:prstGeom prst="ellipse">
            <a:avLst/>
          </a:prstGeom>
          <a:solidFill>
            <a:srgbClr val="AB30E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0" y="-2743200"/>
            <a:ext cx="4572000" cy="4572000"/>
          </a:xfrm>
          <a:prstGeom prst="ellipse">
            <a:avLst/>
          </a:prstGeom>
          <a:solidFill>
            <a:srgbClr val="7A00E6">
              <a:alpha val="7000"/>
            </a:srgbClr>
          </a:solidFill>
          <a:ln/>
        </p:spPr>
      </p:sp>
      <p:pic>
        <p:nvPicPr>
          <p:cNvPr id="4" name="Image 0" descr="/home/user/albert-ruiz-medical-affairs/scripts/slidegen/assets_dmsl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23774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MODULE 6 · LESSON 2 OF 10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Evidence-Based Medicine for MSLs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154680"/>
            <a:ext cx="1091153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Clinical trials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60350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1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Digital Medical Science Liaison Course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ANATOMY OF A TRIAL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a Clinical Trial Actually 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prospective study that assigns an intervention to evaluate its effect on health outcomes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Follows a predefined protocol from start to finish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Understanding phases, design and limitations underlies every credible science conversation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 / 7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FOUR PHASES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Phase I Through IV, In Order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I tests safety, tolerability and pharmacokinetics in a small group, establishing a safe dose range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II expands to patients to explore preliminary efficacy and refine dosing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III is the pivotal trial, powered to confirm efficacy and safety against a standard comparator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Phase IV happens post-launch, in larger and more diverse real-use populations, catching rare or long-term effects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 / 7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DESIGN ELEMENTS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Four Pillars of a Credible Trial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Randomization spreads baseline differences evenly across treatment arms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Blinding, single, double or triple, reduces expectation bias in patients, investigators and assessors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control group, placebo or active comparator, is the reference the effect is measured against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Sample size is calculated upfront to detect a clinically relevant difference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/ 7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READING CRITICALLY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Who Was Actually Studied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Inclusion and exclusion criteria define which population the results can be extrapolated to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Strict criteria, young patients, no comorbidities, no polypharmacy, can show efficacy under ideal conditions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That same effect may not reproduce in the real, heterogeneous patients a clinician sees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90118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901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44168" y="4672584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is the efficacy-versus-effectiveness gap that connects directly to real-world evidence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 / 7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THE FIELD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Knowing the Pivotal Trial Cold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44168" y="2148840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Sample size, comparator, inclusion criteria, endpoints and follow-up are not academic trivia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2186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AB30E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44168" y="2990088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let an MSL answer who does this population resemble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5993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7A00E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3831336"/>
            <a:ext cx="10207447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They let an MSL answer why this comparator and how robust is this result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 / 7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6895" y="-2286000"/>
            <a:ext cx="6400800" cy="6400800"/>
          </a:xfrm>
          <a:prstGeom prst="ellipse">
            <a:avLst/>
          </a:prstGeom>
          <a:solidFill>
            <a:srgbClr val="7A00E6">
              <a:alpha val="12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0515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29232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Trial phases and design choices determine what a result can and cannot claim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238658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33172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phase answers a different question, from first-in-human safety to real-world use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638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05840" y="310896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Randomization, blinding, a control group and a pre-calculated sample size make a result trustworthy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94106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38946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05840" y="3886200"/>
            <a:ext cx="10545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29232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Strict trial populations create an efficacy-to-effectiveness gap that real-world data helps close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00E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LESSON  →  Observational studies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400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DMSL COURSE · MODULE 6 — EVIDENCE-BASED MEDICINE FOR MSLS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10454335" y="6400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616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 /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Clinical trials — DMSL Course</dc:title>
  <dc:subject>PptxGenJS Presentation</dc:subject>
  <dc:creator>Albert Ruiz de la Oliva</dc:creator>
  <cp:lastModifiedBy>Albert Ruiz de la Oliva</cp:lastModifiedBy>
  <cp:revision>1</cp:revision>
  <dcterms:created xsi:type="dcterms:W3CDTF">2026-09-01T12:11:54Z</dcterms:created>
  <dcterms:modified xsi:type="dcterms:W3CDTF">2026-09-01T12:11:54Z</dcterms:modified>
</cp:coreProperties>
</file>